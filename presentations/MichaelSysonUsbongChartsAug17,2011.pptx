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67" r:id="rId3"/>
    <p:sldId id="263" r:id="rId4"/>
    <p:sldId id="265" r:id="rId5"/>
    <p:sldId id="266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-97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143EF-4DD9-4ECF-8E13-054D9A3005D4}" type="datetimeFigureOut">
              <a:rPr lang="en-US" smtClean="0"/>
              <a:t>8/17/2011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F3FD4-7993-4D85-B75B-163A71005D5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Usbong</a:t>
            </a:r>
            <a:r>
              <a:rPr lang="en-US" dirty="0" smtClean="0"/>
              <a:t> was initially used to diagnose and manage childhood illnesses (</a:t>
            </a:r>
            <a:r>
              <a:rPr lang="en-US" dirty="0" err="1" smtClean="0"/>
              <a:t>eIMCI</a:t>
            </a:r>
            <a:r>
              <a:rPr lang="en-US" dirty="0" smtClean="0"/>
              <a:t>) on a low-cost </a:t>
            </a:r>
            <a:r>
              <a:rPr lang="en-US" dirty="0" err="1" smtClean="0"/>
              <a:t>JavaME</a:t>
            </a:r>
            <a:r>
              <a:rPr lang="en-US" dirty="0" smtClean="0"/>
              <a:t> mobile phone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F3FD4-7993-4D85-B75B-163A71005D5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Here’s </a:t>
            </a:r>
            <a:r>
              <a:rPr lang="en-US" dirty="0" err="1" smtClean="0"/>
              <a:t>Usbong</a:t>
            </a:r>
            <a:r>
              <a:rPr lang="en-US" baseline="0" dirty="0" smtClean="0"/>
              <a:t> used to create a Happiness Survey.</a:t>
            </a:r>
          </a:p>
          <a:p>
            <a:r>
              <a:rPr lang="en-US" baseline="0" dirty="0" smtClean="0"/>
              <a:t>It uses checklists instead of radio buttons, because </a:t>
            </a:r>
            <a:r>
              <a:rPr lang="en-US" baseline="0" dirty="0" err="1" smtClean="0"/>
              <a:t>JavaME</a:t>
            </a:r>
            <a:r>
              <a:rPr lang="en-US" baseline="0" dirty="0" smtClean="0"/>
              <a:t> version of </a:t>
            </a:r>
            <a:r>
              <a:rPr lang="en-US" baseline="0" dirty="0" err="1" smtClean="0"/>
              <a:t>Usbong</a:t>
            </a:r>
            <a:r>
              <a:rPr lang="en-US" baseline="0" dirty="0" smtClean="0"/>
              <a:t> has only Yes/No radio buttons.</a:t>
            </a:r>
            <a:br>
              <a:rPr lang="en-US" baseline="0" dirty="0" smtClean="0"/>
            </a:br>
            <a:r>
              <a:rPr lang="en-US" baseline="0" dirty="0" smtClean="0"/>
              <a:t>Having multiple radio buttons (where only one gets selected/ticked) would definitely be included in </a:t>
            </a:r>
            <a:r>
              <a:rPr lang="en-US" baseline="0" dirty="0" err="1" smtClean="0"/>
              <a:t>Usbong</a:t>
            </a:r>
            <a:r>
              <a:rPr lang="en-US" baseline="0" dirty="0" smtClean="0"/>
              <a:t> for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F3FD4-7993-4D85-B75B-163A71005D5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In-progress:</a:t>
            </a:r>
            <a:r>
              <a:rPr lang="en-US" baseline="0" dirty="0" smtClean="0"/>
              <a:t> </a:t>
            </a:r>
            <a:r>
              <a:rPr lang="en-US" dirty="0" smtClean="0"/>
              <a:t>conversion of </a:t>
            </a:r>
            <a:r>
              <a:rPr lang="en-US" dirty="0" err="1" smtClean="0"/>
              <a:t>Usbong</a:t>
            </a:r>
            <a:r>
              <a:rPr lang="en-US" dirty="0" smtClean="0"/>
              <a:t> from</a:t>
            </a:r>
            <a:r>
              <a:rPr lang="en-US" baseline="0" dirty="0" smtClean="0"/>
              <a:t> </a:t>
            </a:r>
            <a:r>
              <a:rPr lang="en-US" dirty="0" err="1" smtClean="0"/>
              <a:t>JavaME</a:t>
            </a:r>
            <a:r>
              <a:rPr lang="en-US" dirty="0" smtClean="0"/>
              <a:t> to Android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F3FD4-7993-4D85-B75B-163A71005D5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Here’s a work-in-progress</a:t>
            </a:r>
            <a:r>
              <a:rPr lang="en-US" baseline="0" dirty="0" smtClean="0"/>
              <a:t> screenshots of </a:t>
            </a:r>
            <a:r>
              <a:rPr lang="en-US" baseline="0" dirty="0" err="1" smtClean="0"/>
              <a:t>Usbong</a:t>
            </a:r>
            <a:r>
              <a:rPr lang="en-US" baseline="0" dirty="0" smtClean="0"/>
              <a:t> for the Android.</a:t>
            </a:r>
          </a:p>
          <a:p>
            <a:r>
              <a:rPr lang="en-US" baseline="0" dirty="0" smtClean="0"/>
              <a:t>It’s now being developed with the 7 Lakes Aquaculture Network team for </a:t>
            </a:r>
            <a:r>
              <a:rPr lang="en-US" baseline="0" dirty="0" err="1" smtClean="0"/>
              <a:t>fishkill</a:t>
            </a:r>
            <a:r>
              <a:rPr lang="en-US" baseline="0" dirty="0" smtClean="0"/>
              <a:t> monitoring and will be deployed in Lake </a:t>
            </a:r>
            <a:r>
              <a:rPr lang="en-US" baseline="0" dirty="0" err="1" smtClean="0"/>
              <a:t>Palakpakin</a:t>
            </a:r>
            <a:r>
              <a:rPr lang="en-US" baseline="0" dirty="0" smtClean="0"/>
              <a:t> in Laguna, Philippines.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1F3FD4-7993-4D85-B75B-163A71005D5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E4D23-D8AA-4EFF-8C7D-FB4F24387FA3}" type="datetimeFigureOut">
              <a:rPr lang="en-US" smtClean="0"/>
              <a:pPr/>
              <a:t>8/17/2011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7D8F8-6A98-4E5D-979D-888FFB54AB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F:\Work\AIC\Usbong\BGImages\IMAG003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9667" y="0"/>
            <a:ext cx="5164666" cy="6857999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7" name="Picture 6" descr="th_AteneoLogo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172563"/>
            <a:ext cx="762000" cy="970437"/>
          </a:xfrm>
          <a:prstGeom prst="rect">
            <a:avLst/>
          </a:prstGeom>
        </p:spPr>
      </p:pic>
      <p:pic>
        <p:nvPicPr>
          <p:cNvPr id="8" name="Picture 2" descr="F:\Work\AIC\Logos\AIC2.jpg"/>
          <p:cNvPicPr>
            <a:picLocks noChangeAspect="1" noChangeArrowheads="1"/>
          </p:cNvPicPr>
          <p:nvPr/>
        </p:nvPicPr>
        <p:blipFill>
          <a:blip r:embed="rId4" cstate="print"/>
          <a:srcRect l="14961" t="32283" r="19544" b="19291"/>
          <a:stretch>
            <a:fillRect/>
          </a:stretch>
        </p:blipFill>
        <p:spPr bwMode="auto">
          <a:xfrm>
            <a:off x="5257800" y="152400"/>
            <a:ext cx="1753467" cy="10668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590800" y="1387495"/>
            <a:ext cx="3962400" cy="15081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200" b="1" cap="none" spc="0" dirty="0" err="1" smtClean="0">
                <a:ln w="50800">
                  <a:solidFill>
                    <a:schemeClr val="accent3">
                      <a:lumMod val="75000"/>
                    </a:schemeClr>
                  </a:solidFill>
                  <a:prstDash val="solid"/>
                </a:ln>
                <a:solidFill>
                  <a:srgbClr val="92D05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Usbong</a:t>
            </a:r>
            <a:endParaRPr lang="en-US" sz="9200" b="1" cap="none" spc="0" dirty="0">
              <a:ln w="50800">
                <a:solidFill>
                  <a:schemeClr val="accent3">
                    <a:lumMod val="75000"/>
                  </a:schemeClr>
                </a:solidFill>
                <a:prstDash val="solid"/>
              </a:ln>
              <a:solidFill>
                <a:srgbClr val="92D05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2883535"/>
            <a:ext cx="9144000" cy="2298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step-by-step guideline </a:t>
            </a: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endParaRPr lang="en-US" sz="28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decision tree </a:t>
            </a: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  <a:buFont typeface="Wingdings"/>
              <a:buChar char="à"/>
            </a:pPr>
            <a:endParaRPr lang="en-US" sz="2800" b="1" dirty="0" smtClean="0">
              <a:solidFill>
                <a:schemeClr val="accent1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 mobile application </a:t>
            </a:r>
            <a:endParaRPr lang="fr-FR" sz="2800" dirty="0" smtClean="0">
              <a:solidFill>
                <a:schemeClr val="accent1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5400000">
            <a:off x="4381500" y="3618706"/>
            <a:ext cx="38100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4382294" y="4456906"/>
            <a:ext cx="381000" cy="1588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57400" y="5638800"/>
            <a:ext cx="5029200" cy="990600"/>
          </a:xfrm>
          <a:prstGeom prst="rect">
            <a:avLst/>
          </a:prstGeom>
          <a:solidFill>
            <a:schemeClr val="bg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5588089"/>
            <a:ext cx="510540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sv-SE" sz="2000" b="1" dirty="0" smtClean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Michael </a:t>
            </a:r>
            <a:r>
              <a:rPr lang="sv-SE" sz="2000" b="1" dirty="0" smtClean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Syson, M.S.</a:t>
            </a:r>
            <a:endParaRPr lang="en-US" sz="2000" dirty="0" smtClean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Ateneo Innovation Center</a:t>
            </a:r>
            <a:endParaRPr lang="en-US" sz="2000" dirty="0" smtClean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ts val="70"/>
              </a:spcBef>
              <a:spcAft>
                <a:spcPct val="0"/>
              </a:spcAft>
            </a:pPr>
            <a:r>
              <a:rPr lang="fr-FR" sz="2000" dirty="0" smtClean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m.syson@ateneoinnovation.org</a:t>
            </a:r>
            <a:endParaRPr lang="fr-FR" sz="2000" dirty="0" smtClean="0">
              <a:solidFill>
                <a:schemeClr val="bg1">
                  <a:lumMod val="8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5601586"/>
            <a:ext cx="762000" cy="1027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45346"/>
            <a:ext cx="4572000" cy="3383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1999" y="20328"/>
            <a:ext cx="4572001" cy="3408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68834" y="3429000"/>
            <a:ext cx="4594216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 t="8889"/>
          <a:stretch>
            <a:fillRect/>
          </a:stretch>
        </p:blipFill>
        <p:spPr bwMode="auto">
          <a:xfrm>
            <a:off x="0" y="3429000"/>
            <a:ext cx="4557059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3009900"/>
            <a:ext cx="9144000" cy="723900"/>
          </a:xfrm>
          <a:solidFill>
            <a:schemeClr val="accent1">
              <a:lumMod val="60000"/>
              <a:lumOff val="40000"/>
              <a:alpha val="50000"/>
            </a:schemeClr>
          </a:solidFill>
          <a:ln w="38100">
            <a:solidFill>
              <a:schemeClr val="tx2">
                <a:lumMod val="40000"/>
                <a:lumOff val="6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4200" b="1" dirty="0" err="1" smtClean="0"/>
              <a:t>Usbong</a:t>
            </a:r>
            <a:r>
              <a:rPr lang="en-US" sz="4200" b="1" dirty="0" smtClean="0"/>
              <a:t>: Mobile </a:t>
            </a:r>
            <a:r>
              <a:rPr lang="en-US" sz="4200" b="1" dirty="0" smtClean="0"/>
              <a:t>Decision Tree Platform</a:t>
            </a:r>
            <a:endParaRPr lang="en-US" sz="4200" b="1" dirty="0"/>
          </a:p>
        </p:txBody>
      </p:sp>
      <p:sp>
        <p:nvSpPr>
          <p:cNvPr id="19" name="Rectangle 18"/>
          <p:cNvSpPr/>
          <p:nvPr/>
        </p:nvSpPr>
        <p:spPr>
          <a:xfrm>
            <a:off x="0" y="5715000"/>
            <a:ext cx="4572000" cy="114300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5715000"/>
            <a:ext cx="4572000" cy="1143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Work\AIC\Usbong\Screenshots\usbong-happinessSurveyJuly18,2011\happinessSurveyDecisionTreeDiagra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1" y="1"/>
            <a:ext cx="3352799" cy="6857634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1027" name="Picture 3" descr="F:\Work\AIC\Usbong\Screenshots\usbong-happinessSurveyJuly18,2011\usbong-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361950"/>
            <a:ext cx="2314575" cy="3067050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1028" name="Picture 4" descr="F:\Work\AIC\Usbong\Screenshots\usbong-happinessSurveyJuly18,2011\usbong-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34150" y="352425"/>
            <a:ext cx="2305050" cy="3076575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1029" name="Picture 5" descr="F:\Work\AIC\Usbong\Screenshots\usbong-happinessSurveyJuly18,2011\usbong-3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86200" y="3581400"/>
            <a:ext cx="2295525" cy="3076575"/>
          </a:xfrm>
          <a:prstGeom prst="rect">
            <a:avLst/>
          </a:prstGeom>
          <a:noFill/>
          <a:effectLst>
            <a:softEdge rad="31750"/>
          </a:effectLst>
        </p:spPr>
      </p:pic>
      <p:pic>
        <p:nvPicPr>
          <p:cNvPr id="1030" name="Picture 6" descr="F:\Work\AIC\Usbong\Screenshots\usbong-happinessSurveyJuly18,2011\usbong-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3619500"/>
            <a:ext cx="2305050" cy="3086100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7953" y="1896918"/>
            <a:ext cx="3505200" cy="2522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2133600"/>
            <a:ext cx="1032753" cy="211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sp>
        <p:nvSpPr>
          <p:cNvPr id="15" name="Right Arrow 14"/>
          <p:cNvSpPr/>
          <p:nvPr/>
        </p:nvSpPr>
        <p:spPr>
          <a:xfrm>
            <a:off x="3090153" y="2819400"/>
            <a:ext cx="990600" cy="609600"/>
          </a:xfrm>
          <a:prstGeom prst="rightArrow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371600" y="152400"/>
            <a:ext cx="65532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300163"/>
            <a:ext cx="238125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71850" y="1304925"/>
            <a:ext cx="2409825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67450" y="1295400"/>
            <a:ext cx="2390775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"/>
          </a:effectLst>
        </p:spPr>
      </p:pic>
      <p:pic>
        <p:nvPicPr>
          <p:cNvPr id="9" name="Picture 8" descr="7LakesTextAndLogoTran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03947" y="152400"/>
            <a:ext cx="6268453" cy="914400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5943600"/>
            <a:ext cx="3657600" cy="91440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119</Words>
  <Application>Microsoft Office PowerPoint</Application>
  <PresentationFormat>On-screen Show (4:3)</PresentationFormat>
  <Paragraphs>20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Usbong: Mobile Decision Tree Platform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Michael Syson</dc:creator>
  <cp:lastModifiedBy>Michael Syson</cp:lastModifiedBy>
  <cp:revision>107</cp:revision>
  <dcterms:created xsi:type="dcterms:W3CDTF">2011-06-16T03:08:36Z</dcterms:created>
  <dcterms:modified xsi:type="dcterms:W3CDTF">2011-08-17T05:13:09Z</dcterms:modified>
</cp:coreProperties>
</file>